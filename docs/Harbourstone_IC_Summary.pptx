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3b7bd6aa234389" /><Relationship Type="http://schemas.openxmlformats.org/officeDocument/2006/relationships/extended-properties" Target="/docProps/app.xml" Id="Rdf76a875f9e94fee" /><Relationship Type="http://schemas.openxmlformats.org/officeDocument/2006/relationships/officeDocument" Target="/ppt/presentation.xml" Id="R8222ae53ce33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56acf50964415e"/>
  </p:sldMasterIdLst>
  <p:notesMasterIdLst>
    <p:notesMasterId xmlns:r="http://schemas.openxmlformats.org/officeDocument/2006/relationships" r:id="Ra6244468850a47a4"/>
  </p:notesMasterIdLst>
  <p:sldIdLst>
    <p:sldId xmlns:r="http://schemas.openxmlformats.org/officeDocument/2006/relationships" id="256" r:id="R245b11be70184f29"/>
    <p:sldId xmlns:r="http://schemas.openxmlformats.org/officeDocument/2006/relationships" id="257" r:id="Re2b2ade781fb4ae7"/>
    <p:sldId xmlns:r="http://schemas.openxmlformats.org/officeDocument/2006/relationships" id="258" r:id="Rea553d9c032e41bc"/>
    <p:sldId xmlns:r="http://schemas.openxmlformats.org/officeDocument/2006/relationships" id="259" r:id="R913a01faaba84653"/>
    <p:sldId xmlns:r="http://schemas.openxmlformats.org/officeDocument/2006/relationships" id="260" r:id="R3ffd77e97db545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8a8148a1aa4d1c" /><Relationship Type="http://schemas.openxmlformats.org/officeDocument/2006/relationships/slideMaster" Target="/ppt/slideMasters/slideMaster1.xml" Id="Rda56acf50964415e" /><Relationship Type="http://schemas.openxmlformats.org/officeDocument/2006/relationships/notesMaster" Target="/ppt/notesMasters/notesMaster1.xml" Id="Ra6244468850a47a4" /><Relationship Type="http://schemas.openxmlformats.org/officeDocument/2006/relationships/presProps" Target="/ppt/presProps.xml" Id="R77dc4c14f58b42d0" /><Relationship Type="http://schemas.openxmlformats.org/officeDocument/2006/relationships/tableStyles" Target="/ppt/tableStyles.xml" Id="R1dbaba7ba8ad43d4" /><Relationship Type="http://schemas.openxmlformats.org/officeDocument/2006/relationships/slide" Target="/ppt/slides/slide1.xml" Id="R245b11be70184f29" /><Relationship Type="http://schemas.openxmlformats.org/officeDocument/2006/relationships/slide" Target="/ppt/slides/slide2.xml" Id="Re2b2ade781fb4ae7" /><Relationship Type="http://schemas.openxmlformats.org/officeDocument/2006/relationships/slide" Target="/ppt/slides/slide3.xml" Id="Rea553d9c032e41bc" /><Relationship Type="http://schemas.openxmlformats.org/officeDocument/2006/relationships/slide" Target="/ppt/slides/slide4.xml" Id="R913a01faaba84653" /><Relationship Type="http://schemas.openxmlformats.org/officeDocument/2006/relationships/slide" Target="/ppt/slides/slide5.xml" Id="R3ffd77e97db545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10ae0deb942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9be59d8e14a2c" /><Relationship Type="http://schemas.openxmlformats.org/officeDocument/2006/relationships/notesMaster" Target="/ppt/notesMasters/notesMaster1.xml" Id="Re4e2ccf8e90e4c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8cd6c80854aa6" /><Relationship Type="http://schemas.openxmlformats.org/officeDocument/2006/relationships/notesMaster" Target="/ppt/notesMasters/notesMaster1.xml" Id="Re1b1673d66d44e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814165a10485f" /><Relationship Type="http://schemas.openxmlformats.org/officeDocument/2006/relationships/notesMaster" Target="/ppt/notesMasters/notesMaster1.xml" Id="Rb364249cc959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6a4c352f5f42ab" /><Relationship Type="http://schemas.openxmlformats.org/officeDocument/2006/relationships/notesMaster" Target="/ppt/notesMasters/notesMaster1.xml" Id="R961cf1766a7448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a195b3133c4bd9" /><Relationship Type="http://schemas.openxmlformats.org/officeDocument/2006/relationships/notesMaster" Target="/ppt/notesMasters/notesMaster1.xml" Id="Rd2d2b5d10fd7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outputs/demo evidence tables and docs/investment_memo.md. All displayed results are synthetic demonstrations, not historical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config/assets.yml and docs/mandate.md. The policy weights sum to 100%, remain within the 40% cap and hold 45%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outputs/demo/portfolio_metrics.csv and outputs/demo/portfolio_weights.csv. Chart values are deterministic synthetic demonstrations. Maximum-Sharpe concentration: VWRL 35.9%, IGLT 32.5%, AGBP 31.6%.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outputs/demo/risk_contributions.csv and outputs/demo/stress_results.csv. Stress values are linear weighted assumptions, not historical episodes or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docs/v1_validation.md, outputs/demo/evidence_manifest.json and docs/investment_memo.md. This is an educational project for a fictional client and is not investment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d37f62924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cf946457804df8" /><Relationship Type="http://schemas.openxmlformats.org/officeDocument/2006/relationships/slideLayout" Target="/ppt/slideLayouts/slideLayout1.xml" Id="Rdacc08e244674c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c08e244674c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21e022daf42dc" /><Relationship Type="http://schemas.openxmlformats.org/officeDocument/2006/relationships/notesSlide" Target="/ppt/notesSlides/notesSlide1.xml" Id="Rf1895a9529ad4d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52eb361d48c8" /><Relationship Type="http://schemas.openxmlformats.org/officeDocument/2006/relationships/notesSlide" Target="/ppt/notesSlides/notesSlide2.xml" Id="R2aa0c09e03d04e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b46a040ed4ad0" /><Relationship Type="http://schemas.openxmlformats.org/officeDocument/2006/relationships/chart" Target="/ppt/slides/charts/chart1.xml" Id="Re45999d9b1ea49a9" /><Relationship Type="http://schemas.openxmlformats.org/officeDocument/2006/relationships/notesSlide" Target="/ppt/notesSlides/notesSlide3.xml" Id="R377c33e7bebc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201cf3e754f3d" /><Relationship Type="http://schemas.openxmlformats.org/officeDocument/2006/relationships/chart" Target="/ppt/slides/charts/chart2.xml" Id="Re499ee191f614a2a" /><Relationship Type="http://schemas.openxmlformats.org/officeDocument/2006/relationships/chart" Target="/ppt/slides/charts/chart3.xml" Id="R5d17dd2345eb4430" /><Relationship Type="http://schemas.openxmlformats.org/officeDocument/2006/relationships/notesSlide" Target="/ppt/notesSlides/notesSlide4.xml" Id="R066e2a37deee49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bcd37820a4159" /><Relationship Type="http://schemas.openxmlformats.org/officeDocument/2006/relationships/notesSlide" Target="/ppt/notesSlides/notesSlide5.xml" Id="R919b72f8c63e48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CAGR</c:v>
          </c:tx>
          <c:spPr>
            <a:solidFill xmlns:a="http://schemas.openxmlformats.org/drawingml/2006/main">
              <a:srgbClr val="0B6E69"/>
            </a:solidFill>
          </c:spPr>
          <c:cat>
            <c:strRef>
              <c:f>'Chart Data'!$A$2:$A$6</c:f>
              <c:strCache>
                <c:ptCount val="5"/>
                <c:pt idx="0">
                  <c:v>Equal</c:v>
                </c:pt>
                <c:pt idx="1">
                  <c:v>60/40</c:v>
                </c:pt>
                <c:pt idx="2">
                  <c:v>Policy</c:v>
                </c:pt>
                <c:pt idx="3">
                  <c:v>Min var</c:v>
                </c:pt>
                <c:pt idx="4">
                  <c:v>Max Sharpe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0.0155</c:v>
                </c:pt>
                <c:pt idx="1">
                  <c:v>0.0456</c:v>
                </c:pt>
                <c:pt idx="2">
                  <c:v>0.0389</c:v>
                </c:pt>
                <c:pt idx="3">
                  <c:v>0.0229</c:v>
                </c:pt>
                <c:pt idx="4">
                  <c:v>0.0441</c:v>
                </c:pt>
              </c:numCache>
            </c:numRef>
          </c:val>
        </c:ser>
        <c:ser>
          <c:idx val="1"/>
          <c:order val="1"/>
          <c:tx>
            <c:v>Volatility</c:v>
          </c:tx>
          <c:spPr>
            <a:solidFill xmlns:a="http://schemas.openxmlformats.org/drawingml/2006/main">
              <a:srgbClr val="17324D"/>
            </a:solidFill>
          </c:spPr>
          <c:cat>
            <c:strRef>
              <c:f>'Chart Data'!$C$2:$C$6</c:f>
              <c:strCache>
                <c:ptCount val="5"/>
                <c:pt idx="0">
                  <c:v>Equal</c:v>
                </c:pt>
                <c:pt idx="1">
                  <c:v>60/40</c:v>
                </c:pt>
                <c:pt idx="2">
                  <c:v>Policy</c:v>
                </c:pt>
                <c:pt idx="3">
                  <c:v>Min var</c:v>
                </c:pt>
                <c:pt idx="4">
                  <c:v>Max Sharpe</c:v>
                </c:pt>
              </c:strCache>
            </c:str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0.0744</c:v>
                </c:pt>
                <c:pt idx="1">
                  <c:v>0.0985</c:v>
                </c:pt>
                <c:pt idx="2">
                  <c:v>0.0802</c:v>
                </c:pt>
                <c:pt idx="3">
                  <c:v>0.0563</c:v>
                </c:pt>
                <c:pt idx="4">
                  <c:v>0.0699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A3A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Risk share</c:v>
          </c:tx>
          <c:spPr>
            <a:solidFill xmlns:a="http://schemas.openxmlformats.org/drawingml/2006/main">
              <a:srgbClr val="0B6E69"/>
            </a:solidFill>
          </c:spPr>
          <c:cat>
            <c:strRef>
              <c:f>'Chart Data'!$A$2:$A$5</c:f>
              <c:strCache>
                <c:ptCount val="4"/>
                <c:pt idx="0">
                  <c:v>Global equity</c:v>
                </c:pt>
                <c:pt idx="1">
                  <c:v>UK equity</c:v>
                </c:pt>
                <c:pt idx="2">
                  <c:v>Fixed income</c:v>
                </c:pt>
                <c:pt idx="3">
                  <c:v>Real assets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0.661</c:v>
                </c:pt>
                <c:pt idx="1">
                  <c:v>0.161</c:v>
                </c:pt>
                <c:pt idx="2">
                  <c:v>0.092</c:v>
                </c:pt>
                <c:pt idx="3">
                  <c:v>0.086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A3A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60/40</c:v>
          </c:tx>
          <c:spPr>
            <a:solidFill xmlns:a="http://schemas.openxmlformats.org/drawingml/2006/main">
              <a:srgbClr val="68778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Growth</c:v>
                </c:pt>
                <c:pt idx="1">
                  <c:v>Inflation</c:v>
                </c:pt>
                <c:pt idx="2">
                  <c:v>Rates + credit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-0.138</c:v>
                </c:pt>
                <c:pt idx="1">
                  <c:v>-0.104</c:v>
                </c:pt>
                <c:pt idx="2">
                  <c:v>-0.104</c:v>
                </c:pt>
              </c:numCache>
            </c:numRef>
          </c:val>
        </c:ser>
        <c:ser>
          <c:idx val="1"/>
          <c:order val="1"/>
          <c:tx>
            <c:v>Policy</c:v>
          </c:tx>
          <c:spPr>
            <a:solidFill xmlns:a="http://schemas.openxmlformats.org/drawingml/2006/main">
              <a:srgbClr val="C26B2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Growth</c:v>
                </c:pt>
                <c:pt idx="1">
                  <c:v>Inflation</c:v>
                </c:pt>
                <c:pt idx="2">
                  <c:v>Rates + credit</c:v>
                </c:pt>
              </c:strCache>
            </c:strRef>
          </c:cat>
          <c:val>
            <c:numRef>
              <c:f>'Chart Data'!$D$2:$D$4</c:f>
              <c:numCache>
                <c:formatCode>0.0%</c:formatCode>
                <c:ptCount val="3"/>
                <c:pt idx="0">
                  <c:v>-0.1</c:v>
                </c:pt>
                <c:pt idx="1">
                  <c:v>-0.083</c:v>
                </c:pt>
                <c:pt idx="2">
                  <c:v>-0.096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A3A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D54ED-8B1B-47AA-A0E4-E09BD12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A38A0-3590-48F3-AE22-FC9BCA72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D1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ED1C8"/>
                </a:solidFill>
                <a:latin typeface="DejaVu Sans"/>
                <a:ea typeface="DejaVu Sans"/>
                <a:cs typeface="DejaVu Sans"/>
              </a:rPr>
              <a:t>HARBOURSTONE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8CE4-4F6E-4861-804B-4AE5CD56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595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Advance a diversified policy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23B1C-7C03-4618-AEDA-B7ABCB2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7E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7EA"/>
                </a:solidFill>
                <a:latin typeface="DejaVu Sans"/>
                <a:ea typeface="DejaVu Sans"/>
                <a:cs typeface="DejaVu Sans"/>
              </a:rPr>
              <a:t>For live-data due diligence, not implementation approval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FC7EC-D645-4FE8-B761-B1235F42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Investment committee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66BDD-FB33-4201-AFDE-A0787E16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ED1C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ED1C8"/>
                </a:solidFill>
                <a:latin typeface="DejaVu Sans"/>
                <a:ea typeface="DejaVu Sans"/>
                <a:cs typeface="DejaVu Sans"/>
              </a:rPr>
              <a:t>Credible v1  |  Yusuf Nuriye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D8811-911B-421D-B92E-CEF77E72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76275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PROVISIONAL ALLOCATION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A122B-76C5-488B-8122-5CCB632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71575"/>
            <a:ext cx="100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A1BE6-0076-43F3-A066-3A38DDCE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571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% growth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C04D7-653B-433B-B175-69C18AA9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14550"/>
            <a:ext cx="100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CB228-574B-4B04-9F76-E92914CA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14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% fixed income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CFBCF-A685-404A-8786-F79A7FA3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57525"/>
            <a:ext cx="100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4C3FA-7DD5-4CFC-908F-776FC44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575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% real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C5D8B-38C0-478B-8167-B2225A17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38625"/>
            <a:ext cx="3381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E9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66D2B-FB72-4C90-A48F-4426F3A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67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6B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C26B2E"/>
                </a:solidFill>
                <a:latin typeface="DejaVu Sans"/>
                <a:ea typeface="DejaVu Sans"/>
                <a:cs typeface="DejaVu Sans"/>
              </a:rPr>
              <a:t>Evidence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6C393-E1B5-4DEB-B3D3-4B1E7150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815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All numerical findings use deterministic synthetic data after the live provider rate-limited the final run.</a:t>
            </a:r>
          </a:p>
        </p:txBody>
      </p:sp>
    </p:spTree>
    <p:extLst>
      <p:ext uri="{BB962C8B-B14F-4D97-AF65-F5344CB8AC3E}">
        <p14:creationId xmlns:p14="http://schemas.microsoft.com/office/powerpoint/2010/main" val="2036470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6E3DFE-EFBC-4B7D-9298-86FEA11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E2543-BBD7-4905-AEF0-05D0FB51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Mandate translated into a policy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4EEB9-AAE2-49C8-9133-5E4A5AD3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£100m fictional UK charity  |  CPI +3% objective  |  3% annual spending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3FF31-E3EA-40C5-BC19-7D42BE6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CLIENT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67781-0763-415C-858B-0967D40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8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8FAEA-6561-48E8-AB9E-21FB16BE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maximum per asset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8376-6A4A-4B3B-8F43-23DB160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8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30%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CB2EA-8D3B-4D5F-AC44-79EB4840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minimum fixed income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3FA1F-A547-4FB9-94B3-0128E27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6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0B78-CDBD-424C-943C-C1D986E3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fully invested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008F5-C276-4C16-85CB-F3284A1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98F4D-C16E-4E1F-BBB3-3986A612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24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leverage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F77CD-1779-4982-AC66-EA00667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24025"/>
            <a:ext cx="638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DIVERSIFIED POLICY WEIGHTS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E6D9A-4550-4AF1-A3D3-F09D2D91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81225"/>
            <a:ext cx="2166937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72799-6ACC-4449-871E-7DED6AE5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05050"/>
            <a:ext cx="2090737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VWRL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46338-4579-4393-963E-968F25D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2181225"/>
            <a:ext cx="619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1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35DA8-5813-4078-9975-43F4D02D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2305050"/>
            <a:ext cx="542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CUKX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899A9-E458-48F9-B64F-F3EC1FD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2181225"/>
            <a:ext cx="9286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06D0A-6A80-4CD4-948C-9BD8049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13" y="2305050"/>
            <a:ext cx="85248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IGLT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F1639-60D4-48B5-A0D9-D9F318D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123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978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A2A8A-7FAC-4D14-AB69-3AC829D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1162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AGBP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975E8-C21F-418B-A415-E4FE950E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81225"/>
            <a:ext cx="619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1C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0986C-BF58-4E00-B650-26263394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5050"/>
            <a:ext cx="542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SLXX</a:t>
            </a:r>
          </a:p>
          <a:p xmlns:a="http://schemas.openxmlformats.org/drawingml/2006/main">
            <a:pPr algn="ctr">
              <a:defRPr sz="825" b="1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EC162-76A8-4EEE-9CDF-8B40351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81225"/>
            <a:ext cx="43338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32451-D523-4951-8161-2922FC3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05050"/>
            <a:ext cx="357188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SGLN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81081-AECF-4BC4-8542-E31CC76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2181225"/>
            <a:ext cx="18573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B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8125F-5531-4AA4-9622-8802588D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241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26B2E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C26B2E"/>
                </a:solidFill>
                <a:latin typeface="DejaVu Sans"/>
                <a:ea typeface="DejaVu Sans"/>
                <a:cs typeface="DejaVu Sans"/>
              </a:rPr>
              <a:t>AGCP 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33B5D-F9FF-4943-9FE7-D59DFE6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Why this allocation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EC685-5D3D-4DBE-BAFB-DEBDB58D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E9E3C4-D060-4D73-B84D-37E4D444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29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Growth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54585-8736-456D-9106-DB2E4EA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45% in global and UK equities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29E522-CAAA-49D7-AE8A-E806BBA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D8D19D-BB97-4CA2-BDC4-059746E2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Defence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AFED26-1221-45F1-BFC1-DDABD8C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45% across three bond sleeves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33545B-705E-41C7-BC03-FEA453F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768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8B31E1-D468-4AE6-96ED-80B06616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577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Inflation sensitivity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0A7A0E-72AE-4D6A-81BD-00BCF1C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7% gold and 3% broad commodities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5BE58-D64A-4006-B4AF-66B11B92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91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3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71472-EFC6-4A18-A9E8-1DE525C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72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Governability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89C29-3336-43A7-8EC9-518712F9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Every sleeve and overlap is visible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E38CA1-9938-42D2-AE2B-223A1300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8170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6D7C70-5629-4EFA-AAEC-0715627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38850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Long only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CDA0BD-8958-4730-ABC2-4D999C9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9817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4F33CA-1E3D-48CF-8BFC-E077B86C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33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No leverage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1EFC5F-48A5-4313-9FAF-BA04D0D5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9817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BD560C-3BA6-4CC7-9AF0-2F0779A3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3885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Monthly rebalance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8262BC-2F65-4CD8-8FD7-7A9160A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981700"/>
            <a:ext cx="1504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E039C8-5AA2-4C62-ABB5-176FC59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38850"/>
            <a:ext cx="1314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Liquid proxies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79E13D-3FCC-41D7-BC97-874A4B1F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Synthetic demonstration data  |  23 September 2026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6C2481-0421-4800-AE55-5D82635A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3972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4FD2A-34FC-4666-828A-9A3F37C6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AD7BA-A36C-4CA0-8CFF-BE27BA82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Optimisers inform the choice but do not make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353D5-4EAC-4DA8-86E5-5CE831A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Synthetic sample  |  geometric return versus daily annualised volatility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752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5999d9b1ea49a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24329-C597-48B5-9BD7-7E8BD8A5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3067050" cy="3857625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E2DAC-5CFD-4A08-8565-54390C60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28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POLICY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E86AF-740B-4956-BCB9-431DB6F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3.9%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906E1-8F6A-479E-82F7-7A78744A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0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CAGR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20E47-BF5E-4B9D-92AC-C493773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8.0%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D6048-D8E7-49C8-B8D6-758300F9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766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volatility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7FEBB-0771-4D62-ACCC-7E591FB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4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−15.4%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8098E-879F-42AC-A1B9-24A203B0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433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max drawdown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B7BBB-DD13-4BA5-AB4D-2A461E79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9E9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66211-5BA4-42EE-A448-338D454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6B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26B2E"/>
                </a:solidFill>
                <a:latin typeface="DejaVu Sans"/>
                <a:ea typeface="DejaVu Sans"/>
                <a:cs typeface="DejaVu Sans"/>
              </a:rPr>
              <a:t>Max Sharpe holds only three sleeves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BD1E2-2A30-4B9F-960A-6203C76B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Decision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59E78-80BE-4E53-BA68-4C43C5E3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29300"/>
            <a:ext cx="900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Use optimisation to expose trade-offs and concentration; choose the policy allocation from the full mandate.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E3BAD-3EF6-4680-960E-CB28FFB9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Synthetic demonstration data  |  23 September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DE0B9-BCE3-4055-8E6F-308BD675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788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1F99A-EF7B-4811-9486-0DD0F325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6D1D6-6FD3-4BDE-8CF6-3A85A5F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Diversified capital still leaves equity-led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99060-03CE-41D7-9FF2-9E423F79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Policy portfolio risk contribution and transparent one-period shocks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CA563-AFD2-47A0-98B8-6A717C3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SHARE OF POLICY VOLATILITY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95300" y="2000250"/>
          <a:ext xmlns:a="http://schemas.openxmlformats.org/drawingml/2006/main" cx="5238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99ee191f614a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FC154-F404-4EB0-8116-1E47F76B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HYPOTHETICAL STRESS LOSS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153150" y="2000250"/>
          <a:ext xmlns:a="http://schemas.openxmlformats.org/drawingml/2006/main" cx="5476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17dd2345eb443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F7E72-DEC7-494D-9183-8250DCBF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Rates + credit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F4F89-06FE-42C3-B7CF-246F430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Inflation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8911E-A939-41AF-82BD-4B70D4D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0A06D-9B09-4E37-B844-1963635F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62575"/>
            <a:ext cx="1095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C9E4C-C755-4410-84CF-D7E0AF18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82%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2D076-5949-47E1-863A-87B8C2C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530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of policy volatility comes from global and UK equities, despite a 45% combined capital weight.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F48F1-01A5-43A8-AA76-AB04838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Synthetic demonstration data  |  23 September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21C17-C045-4422-8B40-D858F5D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5936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F236-E6C9-4A2D-B201-53065197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CC74B-1FCA-4900-9372-47D60AD7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Advance to due diligence with explicit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24D1D-1C12-4A0B-861F-D2A6E71E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The code and interface are validated; historical performance and CPI +3% delivery are not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42C1A-1DF6-4DA5-AC6D-7711AF9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52800" cy="3695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D2E86-841E-4B92-8806-5333161A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D1C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8ED1C8"/>
                </a:solidFill>
                <a:latin typeface="DejaVu Sans"/>
                <a:ea typeface="DejaVu Sans"/>
                <a:cs typeface="DejaVu Sans"/>
              </a:rPr>
              <a:t>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7EEE4-2A0D-445F-9D85-14377D97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1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Diversified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D753E-DDF3-4C42-9655-31FDCF13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7E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CE7EA"/>
                </a:solidFill>
                <a:latin typeface="DejaVu Sans"/>
                <a:ea typeface="DejaVu Sans"/>
                <a:cs typeface="DejaVu Sans"/>
              </a:rPr>
              <a:t>Provisional comparator for further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F6FBD-0BB4-4F81-81C5-B6771AD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47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35% global equity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10% UK equity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45% fixed income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10% real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14060-CF9C-4C90-848F-8FF82BD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19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B6E69"/>
                </a:solidFill>
                <a:latin typeface="DejaVu Sans"/>
                <a:ea typeface="DejaVu Sans"/>
                <a:cs typeface="DejaVu Sans"/>
              </a:rPr>
              <a:t>EVIDENCE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9D0EF-AFAA-4772-8C08-D103AF19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81225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AEC78-3BEF-4E2B-A248-D25007CE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57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automated tests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3848C-704E-467A-8F95-1213B893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76550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D1BD9-C207-42CD-8A69-08C67AD4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clean-start Streamlit health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41A27-DC40-4DC9-B142-753C0A36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5/5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96367-BF5F-48B4-93B9-EB2CFDB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48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portfolios meet coded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657F7-674C-4339-8C17-392255CF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9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7324D"/>
                </a:solidFill>
                <a:latin typeface="DejaVu Sans"/>
                <a:ea typeface="DejaVu Sans"/>
                <a:cs typeface="DejaVu Sans"/>
              </a:rPr>
              <a:t>18/18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CF382-8A32-4565-8BD6-D44F7A4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43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optimisation sensitivity runs 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B4370-1468-4ED9-9A94-8331285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19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C26B2E"/>
                </a:solidFill>
                <a:latin typeface="DejaVu Sans"/>
                <a:ea typeface="DejaVu Sans"/>
                <a:cs typeface="DejaVu Sans"/>
              </a:rPr>
              <a:t>BEFORE 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42A86-94C1-4249-B928-44C5F974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26B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80518-8107-487D-AF7D-03244921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383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Validate common live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F0D6C-3F52-41D4-B714-6B3CDCF5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2892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26B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DE071-17D6-43FA-B4ED-1AC7D86B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Add a UK CPI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ABC03-4E22-4E60-84C2-612AB716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909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26B2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A8371-5E70-482B-81E6-2B2F158A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623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Model costs and cash reserve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F3DD3F-D519-4E10-B845-51F502D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52875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26B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283D2-F578-4703-A146-84E027A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243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Define governance and bands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54D7B-5783-4152-82F5-8CED5AD1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26B2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362E8-FB2C-42BF-A2C7-82BAF96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862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Run rolling out-of-sample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9A40B-7B0B-4121-8E2B-51B95D6D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81600"/>
            <a:ext cx="71056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9E9D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721D86-D463-41A4-A0F5-96343FE2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6B2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26B2E"/>
                </a:solidFill>
                <a:latin typeface="DejaVu Sans"/>
                <a:ea typeface="DejaVu Sans"/>
                <a:cs typeface="DejaVu Sans"/>
              </a:rPr>
              <a:t>Known limitation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87F1FC-5BC1-44CE-A9C2-D8C194E0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197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3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A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72A3A"/>
                </a:solidFill>
                <a:latin typeface="DejaVu Sans"/>
                <a:ea typeface="DejaVu Sans"/>
                <a:cs typeface="DejaVu Sans"/>
              </a:rPr>
              <a:t>Yahoo Finance rate-limited the final live run. Committed numerical results are synthetic demonstrations.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98D5C-379D-4956-9CF7-120841C3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Synthetic demonstration data  |  23 September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1BF671-937D-4052-A03B-67EC698B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68778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6450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2026-09-23T18:22:24.8150000Z</dcterms:created>
  <dcterms:modified xsi:type="dcterms:W3CDTF">2026-09-23T18:22:24.8150000Z</dcterms:modified>
</coreProperties>
</file>